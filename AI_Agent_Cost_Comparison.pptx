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 AI-Agent Costs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multi-agent research workload — 5.81M tokens / month — priced across LLM providers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641080" y="411480"/>
            <a:ext cx="2999232" cy="1371600"/>
          </a:xfrm>
          <a:prstGeom prst="roundRect">
            <a:avLst>
              <a:gd name="adj" fmla="val 8000"/>
            </a:avLst>
          </a:prstGeom>
          <a:solidFill>
            <a:srgbClr val="0F2A24"/>
          </a:solidFill>
          <a:ln w="12700">
            <a:solidFill>
              <a:srgbClr val="1C4A4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96528" y="45720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10104120" y="502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Claude Sonnet 4.6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96528" y="1335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$19.84</a:t>
            </a:r>
            <a:pPr algn="l" indent="0" marL="0">
              <a:buNone/>
            </a:pPr>
            <a:r>
              <a:rPr lang="en-US" sz="14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l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$0.84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month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4.6</a:t>
            </a:r>
            <a:endParaRPr lang="en-US" sz="13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 / $15 per 1M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00400" y="1993392"/>
            <a:ext cx="5897880" cy="310896"/>
          </a:xfrm>
          <a:prstGeom prst="roundRect">
            <a:avLst>
              <a:gd name="adj" fmla="val 23529"/>
            </a:avLst>
          </a:prstGeom>
          <a:solidFill>
            <a:srgbClr val="1B274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1993392"/>
            <a:ext cx="5897880" cy="310896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9235440" y="193852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$19.84</a:t>
            </a:r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baseline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42773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 4.5</a:t>
            </a:r>
            <a:endParaRPr lang="en-US" sz="13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 / $5 per 1M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200400" y="2500884"/>
            <a:ext cx="5897880" cy="310896"/>
          </a:xfrm>
          <a:prstGeom prst="roundRect">
            <a:avLst>
              <a:gd name="adj" fmla="val 23529"/>
            </a:avLst>
          </a:prstGeom>
          <a:solidFill>
            <a:srgbClr val="1B2740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2500884"/>
            <a:ext cx="1964969" cy="310896"/>
          </a:xfrm>
          <a:prstGeom prst="roundRect">
            <a:avLst>
              <a:gd name="adj" fmla="val 23529"/>
            </a:avLst>
          </a:prstGeom>
          <a:solidFill>
            <a:srgbClr val="FB923C"/>
          </a:solidFill>
          <a:ln/>
        </p:spPr>
      </p:sp>
      <p:sp>
        <p:nvSpPr>
          <p:cNvPr id="15" name="Text 13"/>
          <p:cNvSpPr/>
          <p:nvPr/>
        </p:nvSpPr>
        <p:spPr>
          <a:xfrm>
            <a:off x="9235440" y="244602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$6.61</a:t>
            </a:r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−67%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2935224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Llama-3.3-70B</a:t>
            </a:r>
            <a:endParaRPr lang="en-US" sz="13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$0.59 / $0.79 · free tier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200400" y="3008376"/>
            <a:ext cx="5897880" cy="310896"/>
          </a:xfrm>
          <a:prstGeom prst="roundRect">
            <a:avLst>
              <a:gd name="adj" fmla="val 23529"/>
            </a:avLst>
          </a:prstGeom>
          <a:solidFill>
            <a:srgbClr val="1B2740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0" y="3008376"/>
            <a:ext cx="1031534" cy="310896"/>
          </a:xfrm>
          <a:prstGeom prst="roundRect">
            <a:avLst>
              <a:gd name="adj" fmla="val 23529"/>
            </a:avLst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9235440" y="295351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$3.47</a:t>
            </a:r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−83%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344271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V4-Pro</a:t>
            </a:r>
            <a:endParaRPr lang="en-US" sz="13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$0.435 / $0.87 per 1M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200400" y="3515868"/>
            <a:ext cx="5897880" cy="310896"/>
          </a:xfrm>
          <a:prstGeom prst="roundRect">
            <a:avLst>
              <a:gd name="adj" fmla="val 23529"/>
            </a:avLst>
          </a:prstGeom>
          <a:solidFill>
            <a:srgbClr val="1B2740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0" y="3515868"/>
            <a:ext cx="775880" cy="310896"/>
          </a:xfrm>
          <a:prstGeom prst="roundRect">
            <a:avLst>
              <a:gd name="adj" fmla="val 23529"/>
            </a:avLst>
          </a:prstGeom>
          <a:solidFill>
            <a:srgbClr val="2DD4BF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0" y="346100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$2.61</a:t>
            </a:r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−87%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395020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V4-Flash</a:t>
            </a:r>
            <a:endParaRPr lang="en-US" sz="13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$0.14 / $0.28 per 1M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200400" y="4023360"/>
            <a:ext cx="5897880" cy="310896"/>
          </a:xfrm>
          <a:prstGeom prst="roundRect">
            <a:avLst>
              <a:gd name="adj" fmla="val 23529"/>
            </a:avLst>
          </a:prstGeom>
          <a:solidFill>
            <a:srgbClr val="1B2740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0" y="4023360"/>
            <a:ext cx="249709" cy="310896"/>
          </a:xfrm>
          <a:prstGeom prst="roundRect">
            <a:avLst>
              <a:gd name="adj" fmla="val 29295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9235440" y="396849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$0.84</a:t>
            </a:r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−96%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" y="44577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mode (offline)</a:t>
            </a:r>
            <a:endParaRPr lang="en-US" sz="13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API · dev &amp; testing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3200400" y="4530852"/>
            <a:ext cx="5897880" cy="310896"/>
          </a:xfrm>
          <a:prstGeom prst="roundRect">
            <a:avLst>
              <a:gd name="adj" fmla="val 23529"/>
            </a:avLst>
          </a:prstGeom>
          <a:solidFill>
            <a:srgbClr val="1B2740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0" y="4530852"/>
            <a:ext cx="64008" cy="310896"/>
          </a:xfrm>
          <a:prstGeom prst="roundRect">
            <a:avLst>
              <a:gd name="adj" fmla="val 114286"/>
            </a:avLst>
          </a:prstGeom>
          <a:solidFill>
            <a:srgbClr val="64748B"/>
          </a:solidFill>
          <a:ln/>
        </p:spPr>
      </p:sp>
      <p:sp>
        <p:nvSpPr>
          <p:cNvPr id="31" name="Text 29"/>
          <p:cNvSpPr/>
          <p:nvPr/>
        </p:nvSpPr>
        <p:spPr>
          <a:xfrm>
            <a:off x="9235440" y="447598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</a:t>
            </a:r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free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" y="51389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savings compound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5468112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51E30"/>
          </a:solidFill>
          <a:ln w="12700">
            <a:solidFill>
              <a:srgbClr val="26324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565099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969264" y="5586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Multi-provider routing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31520" y="58887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model per run: Claude, DeepSeek, Groq or Mock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74136" y="5468112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51E30"/>
          </a:solidFill>
          <a:ln w="12700">
            <a:solidFill>
              <a:srgbClr val="26324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557016" y="5650992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9" name="Text 37"/>
          <p:cNvSpPr/>
          <p:nvPr/>
        </p:nvSpPr>
        <p:spPr>
          <a:xfrm>
            <a:off x="3794760" y="5586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Per-agent token trim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3557016" y="58887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one subagent's prompt — −75–85% on request preamble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99632" y="5468112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51E30"/>
          </a:solidFill>
          <a:ln w="12700">
            <a:solidFill>
              <a:srgbClr val="26324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82512" y="5650992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3" name="Text 41"/>
          <p:cNvSpPr/>
          <p:nvPr/>
        </p:nvSpPr>
        <p:spPr>
          <a:xfrm>
            <a:off x="6620256" y="5586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WebSearch, not WebFetch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382512" y="58887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snippets instead of full pages flooding context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025128" y="5468112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51E30"/>
          </a:solidFill>
          <a:ln w="12700">
            <a:solidFill>
              <a:srgbClr val="26324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208008" y="5650992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47" name="Text 45"/>
          <p:cNvSpPr/>
          <p:nvPr/>
        </p:nvSpPr>
        <p:spPr>
          <a:xfrm>
            <a:off x="9445752" y="5586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caching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9208008" y="58887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prefixes billed ~99% cheaper on cache hits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64556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= actual June 2026 usage (5,610,636 input + 200,369 output tokens) priced at each provider's official list rate (cache-miss). Sources: Anthropic, api.deepseek.com, Groq (free tier within rate limits). Pricing as of June 2026; same token volume applied to every solution.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Cutting AI-Agent Costs</dc:title>
  <dc:subject>PptxGenJS Presentation</dc:subject>
  <dc:creator>rui</dc:creator>
  <cp:lastModifiedBy>rui</cp:lastModifiedBy>
  <cp:revision>1</cp:revision>
  <dcterms:created xsi:type="dcterms:W3CDTF">2026-06-30T21:42:08Z</dcterms:created>
  <dcterms:modified xsi:type="dcterms:W3CDTF">2026-06-30T21:42:08Z</dcterms:modified>
</cp:coreProperties>
</file>